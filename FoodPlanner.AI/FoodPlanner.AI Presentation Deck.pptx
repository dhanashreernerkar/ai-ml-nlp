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9" r:id="rId13"/>
    <p:sldId id="268" r:id="rId14"/>
  </p:sldIdLst>
  <p:sldSz cx="12192000" cy="6858000"/>
  <p:notesSz cx="6858000" cy="9144000"/>
  <p:embeddedFontLst>
    <p:embeddedFont>
      <p:font typeface="Inter" panose="020B0604020202020204" charset="0"/>
      <p:regular r:id="rId16"/>
      <p:bold r:id="rId17"/>
      <p:italic r:id="rId18"/>
      <p:boldItalic r:id="rId19"/>
    </p:embeddedFont>
    <p:embeddedFont>
      <p:font typeface="Inter ExtraBold" panose="020B0604020202020204" charset="0"/>
      <p:bold r:id="rId20"/>
      <p:boldItalic r:id="rId21"/>
    </p:embeddedFont>
    <p:embeddedFont>
      <p:font typeface="Inter Medium" panose="020B0604020202020204" charset="0"/>
      <p:regular r:id="rId22"/>
      <p:bold r:id="rId23"/>
      <p:italic r:id="rId24"/>
      <p:boldItalic r:id="rId25"/>
    </p:embeddedFont>
    <p:embeddedFont>
      <p:font typeface="Inter SemiBold" panose="020B0604020202020204" charset="0"/>
      <p:regular r:id="rId26"/>
      <p:bold r:id="rId27"/>
      <p:italic r:id="rId28"/>
      <p:boldItalic r:id="rId29"/>
    </p:embeddedFont>
    <p:embeddedFont>
      <p:font typeface="Plus Jakarta Sans ExtraBold" panose="020B0604020202020204" charset="0"/>
      <p:bold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font" Target="fonts/font13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font" Target="fonts/font1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font" Target="fonts/font15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17" Type="http://schemas.openxmlformats.org/officeDocument/2006/relationships/image" Target="../media/image20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8.png"/><Relationship Id="rId18" Type="http://schemas.openxmlformats.org/officeDocument/2006/relationships/image" Target="../media/image33.png"/><Relationship Id="rId3" Type="http://schemas.openxmlformats.org/officeDocument/2006/relationships/image" Target="../media/image6.png"/><Relationship Id="rId7" Type="http://schemas.openxmlformats.org/officeDocument/2006/relationships/image" Target="../media/image23.png"/><Relationship Id="rId12" Type="http://schemas.openxmlformats.org/officeDocument/2006/relationships/image" Target="../media/image27.png"/><Relationship Id="rId17" Type="http://schemas.openxmlformats.org/officeDocument/2006/relationships/image" Target="../media/image32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11" Type="http://schemas.openxmlformats.org/officeDocument/2006/relationships/image" Target="../media/image26.png"/><Relationship Id="rId5" Type="http://schemas.openxmlformats.org/officeDocument/2006/relationships/image" Target="../media/image21.png"/><Relationship Id="rId15" Type="http://schemas.openxmlformats.org/officeDocument/2006/relationships/image" Target="../media/image30.png"/><Relationship Id="rId10" Type="http://schemas.openxmlformats.org/officeDocument/2006/relationships/image" Target="../media/image25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2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13" Type="http://schemas.openxmlformats.org/officeDocument/2006/relationships/image" Target="../media/image41.png"/><Relationship Id="rId18" Type="http://schemas.openxmlformats.org/officeDocument/2006/relationships/image" Target="../media/image46.png"/><Relationship Id="rId3" Type="http://schemas.openxmlformats.org/officeDocument/2006/relationships/image" Target="../media/image6.png"/><Relationship Id="rId7" Type="http://schemas.openxmlformats.org/officeDocument/2006/relationships/image" Target="../media/image36.png"/><Relationship Id="rId12" Type="http://schemas.openxmlformats.org/officeDocument/2006/relationships/image" Target="../media/image40.png"/><Relationship Id="rId17" Type="http://schemas.openxmlformats.org/officeDocument/2006/relationships/image" Target="../media/image45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4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11" Type="http://schemas.openxmlformats.org/officeDocument/2006/relationships/image" Target="../media/image39.png"/><Relationship Id="rId5" Type="http://schemas.openxmlformats.org/officeDocument/2006/relationships/image" Target="../media/image34.png"/><Relationship Id="rId15" Type="http://schemas.openxmlformats.org/officeDocument/2006/relationships/image" Target="../media/image43.png"/><Relationship Id="rId10" Type="http://schemas.openxmlformats.org/officeDocument/2006/relationships/image" Target="../media/image3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4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13" Type="http://schemas.openxmlformats.org/officeDocument/2006/relationships/image" Target="../media/image54.png"/><Relationship Id="rId3" Type="http://schemas.openxmlformats.org/officeDocument/2006/relationships/image" Target="../media/image6.png"/><Relationship Id="rId7" Type="http://schemas.openxmlformats.org/officeDocument/2006/relationships/image" Target="../media/image49.png"/><Relationship Id="rId12" Type="http://schemas.openxmlformats.org/officeDocument/2006/relationships/image" Target="../media/image5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png"/><Relationship Id="rId11" Type="http://schemas.openxmlformats.org/officeDocument/2006/relationships/image" Target="../media/image52.png"/><Relationship Id="rId5" Type="http://schemas.openxmlformats.org/officeDocument/2006/relationships/image" Target="../media/image47.png"/><Relationship Id="rId10" Type="http://schemas.openxmlformats.org/officeDocument/2006/relationships/image" Target="../media/image51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13" Type="http://schemas.openxmlformats.org/officeDocument/2006/relationships/image" Target="../media/image62.png"/><Relationship Id="rId3" Type="http://schemas.openxmlformats.org/officeDocument/2006/relationships/image" Target="../media/image6.png"/><Relationship Id="rId7" Type="http://schemas.openxmlformats.org/officeDocument/2006/relationships/image" Target="../media/image57.png"/><Relationship Id="rId12" Type="http://schemas.openxmlformats.org/officeDocument/2006/relationships/image" Target="../media/image6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6.png"/><Relationship Id="rId11" Type="http://schemas.openxmlformats.org/officeDocument/2006/relationships/image" Target="../media/image60.png"/><Relationship Id="rId5" Type="http://schemas.openxmlformats.org/officeDocument/2006/relationships/image" Target="../media/image55.png"/><Relationship Id="rId10" Type="http://schemas.openxmlformats.org/officeDocument/2006/relationships/image" Target="../media/image59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13" Type="http://schemas.openxmlformats.org/officeDocument/2006/relationships/image" Target="../media/image70.png"/><Relationship Id="rId3" Type="http://schemas.openxmlformats.org/officeDocument/2006/relationships/image" Target="../media/image6.png"/><Relationship Id="rId7" Type="http://schemas.openxmlformats.org/officeDocument/2006/relationships/image" Target="../media/image65.png"/><Relationship Id="rId12" Type="http://schemas.openxmlformats.org/officeDocument/2006/relationships/image" Target="../media/image6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4.png"/><Relationship Id="rId11" Type="http://schemas.openxmlformats.org/officeDocument/2006/relationships/image" Target="../media/image68.png"/><Relationship Id="rId5" Type="http://schemas.openxmlformats.org/officeDocument/2006/relationships/image" Target="../media/image63.png"/><Relationship Id="rId10" Type="http://schemas.openxmlformats.org/officeDocument/2006/relationships/image" Target="../media/image67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13" Type="http://schemas.openxmlformats.org/officeDocument/2006/relationships/image" Target="../media/image78.png"/><Relationship Id="rId3" Type="http://schemas.openxmlformats.org/officeDocument/2006/relationships/image" Target="../media/image6.png"/><Relationship Id="rId7" Type="http://schemas.openxmlformats.org/officeDocument/2006/relationships/image" Target="../media/image73.png"/><Relationship Id="rId12" Type="http://schemas.openxmlformats.org/officeDocument/2006/relationships/image" Target="../media/image7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2.png"/><Relationship Id="rId11" Type="http://schemas.openxmlformats.org/officeDocument/2006/relationships/image" Target="../media/image76.png"/><Relationship Id="rId5" Type="http://schemas.openxmlformats.org/officeDocument/2006/relationships/image" Target="../media/image71.png"/><Relationship Id="rId10" Type="http://schemas.openxmlformats.org/officeDocument/2006/relationships/image" Target="../media/image75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13" Type="http://schemas.openxmlformats.org/officeDocument/2006/relationships/image" Target="../media/image85.png"/><Relationship Id="rId3" Type="http://schemas.openxmlformats.org/officeDocument/2006/relationships/image" Target="../media/image6.png"/><Relationship Id="rId7" Type="http://schemas.openxmlformats.org/officeDocument/2006/relationships/image" Target="../media/image80.png"/><Relationship Id="rId12" Type="http://schemas.openxmlformats.org/officeDocument/2006/relationships/image" Target="../media/image8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6.png"/><Relationship Id="rId11" Type="http://schemas.openxmlformats.org/officeDocument/2006/relationships/image" Target="../media/image83.png"/><Relationship Id="rId5" Type="http://schemas.openxmlformats.org/officeDocument/2006/relationships/image" Target="../media/image79.png"/><Relationship Id="rId10" Type="http://schemas.openxmlformats.org/officeDocument/2006/relationships/image" Target="../media/image82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png"/><Relationship Id="rId13" Type="http://schemas.openxmlformats.org/officeDocument/2006/relationships/image" Target="../media/image93.png"/><Relationship Id="rId3" Type="http://schemas.openxmlformats.org/officeDocument/2006/relationships/image" Target="../media/image6.png"/><Relationship Id="rId7" Type="http://schemas.openxmlformats.org/officeDocument/2006/relationships/image" Target="../media/image88.png"/><Relationship Id="rId12" Type="http://schemas.openxmlformats.org/officeDocument/2006/relationships/image" Target="../media/image9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7.png"/><Relationship Id="rId11" Type="http://schemas.openxmlformats.org/officeDocument/2006/relationships/image" Target="../media/image12.png"/><Relationship Id="rId5" Type="http://schemas.openxmlformats.org/officeDocument/2006/relationships/image" Target="../media/image86.png"/><Relationship Id="rId10" Type="http://schemas.openxmlformats.org/officeDocument/2006/relationships/image" Target="../media/image91.png"/><Relationship Id="rId4" Type="http://schemas.openxmlformats.org/officeDocument/2006/relationships/image" Target="../media/image7.png"/><Relationship Id="rId9" Type="http://schemas.openxmlformats.org/officeDocument/2006/relationships/image" Target="../media/image9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13" Type="http://schemas.openxmlformats.org/officeDocument/2006/relationships/image" Target="../media/image105.png"/><Relationship Id="rId3" Type="http://schemas.openxmlformats.org/officeDocument/2006/relationships/image" Target="../media/image95.png"/><Relationship Id="rId7" Type="http://schemas.openxmlformats.org/officeDocument/2006/relationships/image" Target="../media/image99.png"/><Relationship Id="rId12" Type="http://schemas.openxmlformats.org/officeDocument/2006/relationships/image" Target="../media/image104.png"/><Relationship Id="rId17" Type="http://schemas.openxmlformats.org/officeDocument/2006/relationships/image" Target="../media/image109.png"/><Relationship Id="rId2" Type="http://schemas.openxmlformats.org/officeDocument/2006/relationships/image" Target="../media/image94.png"/><Relationship Id="rId16" Type="http://schemas.openxmlformats.org/officeDocument/2006/relationships/image" Target="../media/image10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8.png"/><Relationship Id="rId11" Type="http://schemas.openxmlformats.org/officeDocument/2006/relationships/image" Target="../media/image103.png"/><Relationship Id="rId5" Type="http://schemas.openxmlformats.org/officeDocument/2006/relationships/image" Target="../media/image97.png"/><Relationship Id="rId15" Type="http://schemas.openxmlformats.org/officeDocument/2006/relationships/image" Target="../media/image107.png"/><Relationship Id="rId10" Type="http://schemas.openxmlformats.org/officeDocument/2006/relationships/image" Target="../media/image102.png"/><Relationship Id="rId4" Type="http://schemas.openxmlformats.org/officeDocument/2006/relationships/image" Target="../media/image96.png"/><Relationship Id="rId9" Type="http://schemas.openxmlformats.org/officeDocument/2006/relationships/image" Target="../media/image101.png"/><Relationship Id="rId14" Type="http://schemas.openxmlformats.org/officeDocument/2006/relationships/image" Target="../media/image10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png"/><Relationship Id="rId3" Type="http://schemas.openxmlformats.org/officeDocument/2006/relationships/image" Target="../media/image110.png"/><Relationship Id="rId7" Type="http://schemas.openxmlformats.org/officeDocument/2006/relationships/image" Target="../media/image114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3.png"/><Relationship Id="rId11" Type="http://schemas.openxmlformats.org/officeDocument/2006/relationships/image" Target="../media/image118.png"/><Relationship Id="rId5" Type="http://schemas.openxmlformats.org/officeDocument/2006/relationships/image" Target="../media/image112.png"/><Relationship Id="rId10" Type="http://schemas.openxmlformats.org/officeDocument/2006/relationships/image" Target="../media/image117.png"/><Relationship Id="rId4" Type="http://schemas.openxmlformats.org/officeDocument/2006/relationships/image" Target="../media/image111.png"/><Relationship Id="rId9" Type="http://schemas.openxmlformats.org/officeDocument/2006/relationships/image" Target="../media/image1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/><Relationship Id="rId7" Type="http://schemas.openxmlformats.org/officeDocument/2006/relationships/image" Target="../media/image123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2.png"/><Relationship Id="rId5" Type="http://schemas.openxmlformats.org/officeDocument/2006/relationships/image" Target="../media/image121.png"/><Relationship Id="rId4" Type="http://schemas.openxmlformats.org/officeDocument/2006/relationships/image" Target="../media/image1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14825" y="1821209"/>
            <a:ext cx="356235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524125" y="4636591"/>
            <a:ext cx="7143750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2345531" y="2383184"/>
            <a:ext cx="7500937" cy="670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0" i="0" u="none" strike="noStrike" cap="none">
                <a:solidFill>
                  <a:srgbClr val="FFFFF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FoodPlanner</a:t>
            </a:r>
            <a:r>
              <a:rPr lang="en-US" sz="4800" b="0" i="0" u="none" strike="noStrike" cap="none">
                <a:solidFill>
                  <a:srgbClr val="38BDF8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.AI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2524125" y="3206055"/>
            <a:ext cx="71437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Your Fridge, Planned!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2524125" y="3768030"/>
            <a:ext cx="714375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 spoilage-aware, diet-safe AI meal planner that turns pantry photos into multi-day meal trajectories with zero food waste.</a:t>
            </a:r>
            <a:endParaRPr/>
          </a:p>
        </p:txBody>
      </p:sp>
      <p:pic>
        <p:nvPicPr>
          <p:cNvPr id="90" name="Google Shape;90;p1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414266" y="1902934"/>
            <a:ext cx="171450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/>
        </p:nvSpPr>
        <p:spPr>
          <a:xfrm>
            <a:off x="4043362" y="4874716"/>
            <a:ext cx="14763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860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Dhanashree Nerkar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5748337" y="4874716"/>
            <a:ext cx="122872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860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Fenil Vaghasiya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7205662" y="4874716"/>
            <a:ext cx="9429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860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Zeren Xiao</a:t>
            </a:r>
            <a:endParaRPr/>
          </a:p>
        </p:txBody>
      </p:sp>
      <p:pic>
        <p:nvPicPr>
          <p:cNvPr id="94" name="Google Shape;94;p1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043362" y="4893766"/>
            <a:ext cx="1714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48337" y="4893766"/>
            <a:ext cx="1714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205662" y="4893766"/>
            <a:ext cx="171450" cy="13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200" y="6267450"/>
            <a:ext cx="11277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7200" y="342900"/>
            <a:ext cx="22955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57200" y="1143000"/>
            <a:ext cx="3632150" cy="499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279850" y="1143000"/>
            <a:ext cx="3632150" cy="499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102500" y="1143000"/>
            <a:ext cx="3632299" cy="4991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10482071" y="494026"/>
            <a:ext cx="1252727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FoodPlanner.AI</a:t>
            </a:r>
            <a:endParaRPr dirty="0"/>
          </a:p>
        </p:txBody>
      </p:sp>
      <p:sp>
        <p:nvSpPr>
          <p:cNvPr id="108" name="Google Shape;108;p14"/>
          <p:cNvSpPr txBox="1"/>
          <p:nvPr/>
        </p:nvSpPr>
        <p:spPr>
          <a:xfrm>
            <a:off x="457200" y="6372225"/>
            <a:ext cx="198120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Northeastern University • INFO 7375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11372850" y="6372225"/>
            <a:ext cx="36195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Slide 2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457200" y="609600"/>
            <a:ext cx="6850856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0F172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The Broken Status Quo: </a:t>
            </a:r>
            <a:r>
              <a:rPr lang="en-US" sz="2250" b="0" i="0" u="none" strike="noStrike" cap="none">
                <a:solidFill>
                  <a:srgbClr val="2563EB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3 Key Market Problems</a:t>
            </a:r>
            <a:endParaRPr/>
          </a:p>
        </p:txBody>
      </p:sp>
      <p:pic>
        <p:nvPicPr>
          <p:cNvPr id="111" name="Google Shape;111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290810" y="457200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4"/>
          <p:cNvSpPr txBox="1"/>
          <p:nvPr/>
        </p:nvSpPr>
        <p:spPr>
          <a:xfrm>
            <a:off x="876300" y="1323975"/>
            <a:ext cx="3032075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DC2626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1. Invisible Fresh Spoilage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638175" y="1609725"/>
            <a:ext cx="3270200" cy="372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2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Food quietly spoils in back shelves while cooks default to the same 3-4 simple meals day after day.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4679900" y="1323975"/>
            <a:ext cx="3051125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DC2626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2. Single-Meal Myopia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4460825" y="1609725"/>
            <a:ext cx="3270200" cy="558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2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Traditional recipe apps answer "what can I cook now?" for 1 dish, completely failing multi-day trajectories.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8359675" y="1323975"/>
            <a:ext cx="3194149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DC2626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3. Financial &amp; Food Leakage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8283475" y="1609725"/>
            <a:ext cx="3270349" cy="558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2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Home cooks repeatedly re-buy groceries they already own, inflating weekly grocery budgets needlessly.</a:t>
            </a:r>
            <a:endParaRPr/>
          </a:p>
        </p:txBody>
      </p:sp>
      <p:pic>
        <p:nvPicPr>
          <p:cNvPr id="118" name="Google Shape;118;p14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38175" y="1347787"/>
            <a:ext cx="161925" cy="161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4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460825" y="1347787"/>
            <a:ext cx="142875" cy="161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4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520800" y="4333875"/>
            <a:ext cx="1504950" cy="173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4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803225" y="2543175"/>
            <a:ext cx="3105150" cy="179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4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4524300" y="2619375"/>
            <a:ext cx="3143250" cy="198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4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5333925" y="4600575"/>
            <a:ext cx="1524000" cy="163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4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8486243" y="2619375"/>
            <a:ext cx="3143250" cy="200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4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9305393" y="4598670"/>
            <a:ext cx="1504950" cy="186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200" y="6267450"/>
            <a:ext cx="11277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7200" y="342900"/>
            <a:ext cx="1566862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57200" y="1143000"/>
            <a:ext cx="3632150" cy="499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279850" y="1143000"/>
            <a:ext cx="3632150" cy="499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102500" y="1143000"/>
            <a:ext cx="3632299" cy="49911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5"/>
          <p:cNvSpPr txBox="1"/>
          <p:nvPr/>
        </p:nvSpPr>
        <p:spPr>
          <a:xfrm>
            <a:off x="10591800" y="552450"/>
            <a:ext cx="11430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FoodPlanner.AI</a:t>
            </a:r>
            <a:endParaRPr/>
          </a:p>
        </p:txBody>
      </p:sp>
      <p:sp>
        <p:nvSpPr>
          <p:cNvPr id="137" name="Google Shape;137;p15"/>
          <p:cNvSpPr txBox="1"/>
          <p:nvPr/>
        </p:nvSpPr>
        <p:spPr>
          <a:xfrm>
            <a:off x="457200" y="6372225"/>
            <a:ext cx="198120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Northeastern University • INFO 7375</a:t>
            </a:r>
            <a:endParaRPr/>
          </a:p>
        </p:txBody>
      </p:sp>
      <p:sp>
        <p:nvSpPr>
          <p:cNvPr id="138" name="Google Shape;138;p15"/>
          <p:cNvSpPr txBox="1"/>
          <p:nvPr/>
        </p:nvSpPr>
        <p:spPr>
          <a:xfrm>
            <a:off x="11363325" y="6372225"/>
            <a:ext cx="37147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Slide 3</a:t>
            </a:r>
            <a:endParaRPr/>
          </a:p>
        </p:txBody>
      </p:sp>
      <p:sp>
        <p:nvSpPr>
          <p:cNvPr id="139" name="Google Shape;139;p15"/>
          <p:cNvSpPr txBox="1"/>
          <p:nvPr/>
        </p:nvSpPr>
        <p:spPr>
          <a:xfrm>
            <a:off x="457200" y="609600"/>
            <a:ext cx="64008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0F172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The FoodPlanner.AI Fix: </a:t>
            </a:r>
            <a:r>
              <a:rPr lang="en-US" sz="2250" b="0" i="0" u="none" strike="noStrike" cap="none">
                <a:solidFill>
                  <a:srgbClr val="2563EB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Smart Core Engines</a:t>
            </a:r>
            <a:endParaRPr/>
          </a:p>
        </p:txBody>
      </p:sp>
      <p:pic>
        <p:nvPicPr>
          <p:cNvPr id="140" name="Google Shape;140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382250" y="571500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5"/>
          <p:cNvSpPr txBox="1"/>
          <p:nvPr/>
        </p:nvSpPr>
        <p:spPr>
          <a:xfrm>
            <a:off x="838200" y="1323975"/>
            <a:ext cx="3070175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166534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1. Shelf-Life Engine</a:t>
            </a:r>
            <a:endParaRPr/>
          </a:p>
        </p:txBody>
      </p:sp>
      <p:sp>
        <p:nvSpPr>
          <p:cNvPr id="142" name="Google Shape;142;p15"/>
          <p:cNvSpPr txBox="1"/>
          <p:nvPr/>
        </p:nvSpPr>
        <p:spPr>
          <a:xfrm>
            <a:off x="638175" y="1609725"/>
            <a:ext cx="3270200" cy="372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2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Ranks pantry items by expiration urgency, prioritizing high-risk items (score ≥ 4) for immediate use.</a:t>
            </a:r>
            <a:endParaRPr/>
          </a:p>
        </p:txBody>
      </p:sp>
      <p:sp>
        <p:nvSpPr>
          <p:cNvPr id="143" name="Google Shape;143;p15"/>
          <p:cNvSpPr txBox="1"/>
          <p:nvPr/>
        </p:nvSpPr>
        <p:spPr>
          <a:xfrm>
            <a:off x="4698950" y="1323975"/>
            <a:ext cx="3032075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166534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2. Multi-Day Trajectory</a:t>
            </a:r>
            <a:endParaRPr/>
          </a:p>
        </p:txBody>
      </p:sp>
      <p:sp>
        <p:nvSpPr>
          <p:cNvPr id="144" name="Google Shape;144;p15"/>
          <p:cNvSpPr txBox="1"/>
          <p:nvPr/>
        </p:nvSpPr>
        <p:spPr>
          <a:xfrm>
            <a:off x="4460825" y="1609725"/>
            <a:ext cx="3270200" cy="372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2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Transforms stock into a 5-day automated meal journey that spans multiple dishes seamlessly.</a:t>
            </a:r>
            <a:endParaRPr/>
          </a:p>
        </p:txBody>
      </p:sp>
      <p:sp>
        <p:nvSpPr>
          <p:cNvPr id="145" name="Google Shape;145;p15"/>
          <p:cNvSpPr txBox="1"/>
          <p:nvPr/>
        </p:nvSpPr>
        <p:spPr>
          <a:xfrm>
            <a:off x="8483500" y="1323975"/>
            <a:ext cx="3070324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166534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3. Subtract-Only Math</a:t>
            </a:r>
            <a:endParaRPr/>
          </a:p>
        </p:txBody>
      </p:sp>
      <p:sp>
        <p:nvSpPr>
          <p:cNvPr id="146" name="Google Shape;146;p15"/>
          <p:cNvSpPr txBox="1"/>
          <p:nvPr/>
        </p:nvSpPr>
        <p:spPr>
          <a:xfrm>
            <a:off x="8283475" y="1609725"/>
            <a:ext cx="3270349" cy="372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2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Calculates (Required Recipe Items - Owned Inventory) to generate exact gap-only store receipts.</a:t>
            </a:r>
            <a:endParaRPr/>
          </a:p>
        </p:txBody>
      </p:sp>
      <p:pic>
        <p:nvPicPr>
          <p:cNvPr id="147" name="Google Shape;147;p15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38175" y="1347787"/>
            <a:ext cx="123825" cy="161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5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460825" y="1347787"/>
            <a:ext cx="161925" cy="161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5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283475" y="1347787"/>
            <a:ext cx="123825" cy="161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5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727025" y="2247900"/>
            <a:ext cx="2947086" cy="201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5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1597125" y="4267200"/>
            <a:ext cx="1485900" cy="201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5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4505250" y="2324100"/>
            <a:ext cx="3181350" cy="1962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5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5291063" y="4343400"/>
            <a:ext cx="1333500" cy="186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5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8589450" y="2466927"/>
            <a:ext cx="2658424" cy="167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5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9108825" y="4143425"/>
            <a:ext cx="1619646" cy="201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200" y="6267450"/>
            <a:ext cx="11277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7200" y="342900"/>
            <a:ext cx="1795462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57200" y="1143000"/>
            <a:ext cx="3632150" cy="499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279850" y="1143000"/>
            <a:ext cx="3632150" cy="499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102500" y="1143000"/>
            <a:ext cx="3632299" cy="49911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6"/>
          <p:cNvSpPr txBox="1"/>
          <p:nvPr/>
        </p:nvSpPr>
        <p:spPr>
          <a:xfrm>
            <a:off x="10488168" y="453640"/>
            <a:ext cx="1210056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FoodPlanner.AI</a:t>
            </a:r>
            <a:endParaRPr dirty="0"/>
          </a:p>
        </p:txBody>
      </p:sp>
      <p:sp>
        <p:nvSpPr>
          <p:cNvPr id="167" name="Google Shape;167;p16"/>
          <p:cNvSpPr txBox="1"/>
          <p:nvPr/>
        </p:nvSpPr>
        <p:spPr>
          <a:xfrm>
            <a:off x="457200" y="6372225"/>
            <a:ext cx="198120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Northeastern University • INFO 7375</a:t>
            </a:r>
            <a:endParaRPr/>
          </a:p>
        </p:txBody>
      </p:sp>
      <p:sp>
        <p:nvSpPr>
          <p:cNvPr id="168" name="Google Shape;168;p16"/>
          <p:cNvSpPr txBox="1"/>
          <p:nvPr/>
        </p:nvSpPr>
        <p:spPr>
          <a:xfrm>
            <a:off x="11363325" y="6372225"/>
            <a:ext cx="37147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Slide 4</a:t>
            </a:r>
            <a:endParaRPr/>
          </a:p>
        </p:txBody>
      </p:sp>
      <p:sp>
        <p:nvSpPr>
          <p:cNvPr id="169" name="Google Shape;169;p16"/>
          <p:cNvSpPr txBox="1"/>
          <p:nvPr/>
        </p:nvSpPr>
        <p:spPr>
          <a:xfrm>
            <a:off x="457200" y="609600"/>
            <a:ext cx="7330916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0F172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Core Platform Features: </a:t>
            </a:r>
            <a:r>
              <a:rPr lang="en-US" sz="2250" b="0" i="0" u="none" strike="noStrike" cap="none">
                <a:solidFill>
                  <a:srgbClr val="2563EB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Vision, Safety &amp; Analytics</a:t>
            </a:r>
            <a:endParaRPr/>
          </a:p>
        </p:txBody>
      </p:sp>
      <p:pic>
        <p:nvPicPr>
          <p:cNvPr id="170" name="Google Shape;170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299954" y="464820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6"/>
          <p:cNvSpPr txBox="1"/>
          <p:nvPr/>
        </p:nvSpPr>
        <p:spPr>
          <a:xfrm>
            <a:off x="876300" y="1323975"/>
            <a:ext cx="3032075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1D4ED8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1. Vision AI Intake</a:t>
            </a:r>
            <a:endParaRPr/>
          </a:p>
        </p:txBody>
      </p:sp>
      <p:sp>
        <p:nvSpPr>
          <p:cNvPr id="172" name="Google Shape;172;p16"/>
          <p:cNvSpPr txBox="1"/>
          <p:nvPr/>
        </p:nvSpPr>
        <p:spPr>
          <a:xfrm>
            <a:off x="638175" y="1609725"/>
            <a:ext cx="3270200" cy="558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2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Claude Vision processes fridge photos directly into structured, machine-readable JSON inventory objects.</a:t>
            </a:r>
            <a:endParaRPr/>
          </a:p>
        </p:txBody>
      </p:sp>
      <p:sp>
        <p:nvSpPr>
          <p:cNvPr id="173" name="Google Shape;173;p16"/>
          <p:cNvSpPr txBox="1"/>
          <p:nvPr/>
        </p:nvSpPr>
        <p:spPr>
          <a:xfrm>
            <a:off x="4698950" y="1323975"/>
            <a:ext cx="3032075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1D4ED8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2. Deterministic Safety Net</a:t>
            </a:r>
            <a:endParaRPr/>
          </a:p>
        </p:txBody>
      </p:sp>
      <p:sp>
        <p:nvSpPr>
          <p:cNvPr id="174" name="Google Shape;174;p16"/>
          <p:cNvSpPr txBox="1"/>
          <p:nvPr/>
        </p:nvSpPr>
        <p:spPr>
          <a:xfrm>
            <a:off x="4460825" y="1609725"/>
            <a:ext cx="3270200" cy="372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2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Hardcoded Python validators enforce dietary boundaries with 0% LLM hallucination risk.</a:t>
            </a:r>
            <a:endParaRPr/>
          </a:p>
        </p:txBody>
      </p:sp>
      <p:sp>
        <p:nvSpPr>
          <p:cNvPr id="175" name="Google Shape;175;p16"/>
          <p:cNvSpPr txBox="1"/>
          <p:nvPr/>
        </p:nvSpPr>
        <p:spPr>
          <a:xfrm>
            <a:off x="8521600" y="1323975"/>
            <a:ext cx="3032224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1D4ED8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3. Waste Analytics</a:t>
            </a:r>
            <a:endParaRPr/>
          </a:p>
        </p:txBody>
      </p:sp>
      <p:sp>
        <p:nvSpPr>
          <p:cNvPr id="176" name="Google Shape;176;p16"/>
          <p:cNvSpPr txBox="1"/>
          <p:nvPr/>
        </p:nvSpPr>
        <p:spPr>
          <a:xfrm>
            <a:off x="8283475" y="1609725"/>
            <a:ext cx="3270349" cy="372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2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Tracks confirmed utilization and spoilage events with buy-less guidance—strictly avoiding money guilt.</a:t>
            </a:r>
            <a:endParaRPr/>
          </a:p>
        </p:txBody>
      </p:sp>
      <p:pic>
        <p:nvPicPr>
          <p:cNvPr id="177" name="Google Shape;177;p16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38175" y="1347787"/>
            <a:ext cx="161925" cy="161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6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460825" y="1347787"/>
            <a:ext cx="161925" cy="161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6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283475" y="1347787"/>
            <a:ext cx="161925" cy="161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6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949900" y="2462298"/>
            <a:ext cx="2646749" cy="160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6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1670548" y="4066050"/>
            <a:ext cx="1443566" cy="209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6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4687856" y="2368626"/>
            <a:ext cx="3044893" cy="179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6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5410100" y="4159725"/>
            <a:ext cx="1620800" cy="21500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6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8331250" y="2276475"/>
            <a:ext cx="3032075" cy="1791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6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9036885" y="4117300"/>
            <a:ext cx="1620800" cy="2100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200" y="6267450"/>
            <a:ext cx="11277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7200" y="342900"/>
            <a:ext cx="239077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854255" y="2017514"/>
            <a:ext cx="3880395" cy="9917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854255" y="3142654"/>
            <a:ext cx="3880395" cy="9917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854255" y="4267795"/>
            <a:ext cx="3880395" cy="99179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7"/>
          <p:cNvSpPr txBox="1"/>
          <p:nvPr/>
        </p:nvSpPr>
        <p:spPr>
          <a:xfrm>
            <a:off x="10452354" y="519172"/>
            <a:ext cx="1282446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FoodPlanner.AI</a:t>
            </a:r>
            <a:endParaRPr dirty="0"/>
          </a:p>
        </p:txBody>
      </p:sp>
      <p:sp>
        <p:nvSpPr>
          <p:cNvPr id="197" name="Google Shape;197;p17"/>
          <p:cNvSpPr txBox="1"/>
          <p:nvPr/>
        </p:nvSpPr>
        <p:spPr>
          <a:xfrm>
            <a:off x="457200" y="6372225"/>
            <a:ext cx="198120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Northeastern University • INFO 7375</a:t>
            </a:r>
            <a:endParaRPr/>
          </a:p>
        </p:txBody>
      </p:sp>
      <p:sp>
        <p:nvSpPr>
          <p:cNvPr id="198" name="Google Shape;198;p17"/>
          <p:cNvSpPr txBox="1"/>
          <p:nvPr/>
        </p:nvSpPr>
        <p:spPr>
          <a:xfrm>
            <a:off x="11372850" y="6372225"/>
            <a:ext cx="36195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Slide 5</a:t>
            </a:r>
            <a:endParaRPr/>
          </a:p>
        </p:txBody>
      </p:sp>
      <p:sp>
        <p:nvSpPr>
          <p:cNvPr id="199" name="Google Shape;199;p17"/>
          <p:cNvSpPr txBox="1"/>
          <p:nvPr/>
        </p:nvSpPr>
        <p:spPr>
          <a:xfrm>
            <a:off x="457200" y="609600"/>
            <a:ext cx="492061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0F172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End-to-End </a:t>
            </a:r>
            <a:r>
              <a:rPr lang="en-US" sz="2250" b="0" i="0" u="none" strike="noStrike" cap="none">
                <a:solidFill>
                  <a:srgbClr val="2563EB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System Architecture</a:t>
            </a:r>
            <a:endParaRPr/>
          </a:p>
        </p:txBody>
      </p:sp>
      <p:pic>
        <p:nvPicPr>
          <p:cNvPr id="200" name="Google Shape;200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245090" y="534924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17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57200" y="1606897"/>
            <a:ext cx="7206555" cy="4025205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7"/>
          <p:cNvSpPr txBox="1"/>
          <p:nvPr/>
        </p:nvSpPr>
        <p:spPr>
          <a:xfrm>
            <a:off x="8292405" y="2198489"/>
            <a:ext cx="326127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1D4ED8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Streamlit Orchestrator</a:t>
            </a:r>
            <a:endParaRPr/>
          </a:p>
        </p:txBody>
      </p:sp>
      <p:sp>
        <p:nvSpPr>
          <p:cNvPr id="203" name="Google Shape;203;p17"/>
          <p:cNvSpPr txBox="1"/>
          <p:nvPr/>
        </p:nvSpPr>
        <p:spPr>
          <a:xfrm>
            <a:off x="8035230" y="2455664"/>
            <a:ext cx="3518445" cy="372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2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Classifies user intent using rule-based filters backed by Claude NLU fallback.</a:t>
            </a:r>
            <a:endParaRPr/>
          </a:p>
        </p:txBody>
      </p:sp>
      <p:sp>
        <p:nvSpPr>
          <p:cNvPr id="204" name="Google Shape;204;p17"/>
          <p:cNvSpPr txBox="1"/>
          <p:nvPr/>
        </p:nvSpPr>
        <p:spPr>
          <a:xfrm>
            <a:off x="8273355" y="3323629"/>
            <a:ext cx="328032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15803D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LangGraph Pipeline</a:t>
            </a:r>
            <a:endParaRPr/>
          </a:p>
        </p:txBody>
      </p:sp>
      <p:sp>
        <p:nvSpPr>
          <p:cNvPr id="205" name="Google Shape;205;p17"/>
          <p:cNvSpPr txBox="1"/>
          <p:nvPr/>
        </p:nvSpPr>
        <p:spPr>
          <a:xfrm>
            <a:off x="8035230" y="3580804"/>
            <a:ext cx="3518445" cy="372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2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Sequences execution: Freshness &gt; Critical &gt; Recipe Retrieval &gt; Trajectory Plan &gt; Gap Math.</a:t>
            </a:r>
            <a:endParaRPr/>
          </a:p>
        </p:txBody>
      </p:sp>
      <p:sp>
        <p:nvSpPr>
          <p:cNvPr id="206" name="Google Shape;206;p17"/>
          <p:cNvSpPr txBox="1"/>
          <p:nvPr/>
        </p:nvSpPr>
        <p:spPr>
          <a:xfrm>
            <a:off x="8235255" y="4448770"/>
            <a:ext cx="331842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DC2626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Deterministic Safety Net</a:t>
            </a:r>
            <a:endParaRPr/>
          </a:p>
        </p:txBody>
      </p:sp>
      <p:sp>
        <p:nvSpPr>
          <p:cNvPr id="207" name="Google Shape;207;p17"/>
          <p:cNvSpPr txBox="1"/>
          <p:nvPr/>
        </p:nvSpPr>
        <p:spPr>
          <a:xfrm>
            <a:off x="8035230" y="4705945"/>
            <a:ext cx="3518445" cy="372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2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Python code blocks unsafe outputs outright rather than patching hallucinated text.</a:t>
            </a:r>
            <a:endParaRPr/>
          </a:p>
        </p:txBody>
      </p:sp>
      <p:pic>
        <p:nvPicPr>
          <p:cNvPr id="208" name="Google Shape;208;p17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035230" y="2217539"/>
            <a:ext cx="1809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17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035230" y="3342679"/>
            <a:ext cx="1619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17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8035230" y="4467820"/>
            <a:ext cx="123825" cy="14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200" y="6267450"/>
            <a:ext cx="11277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7200" y="342900"/>
            <a:ext cx="173355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45485" y="2017514"/>
            <a:ext cx="4989314" cy="99179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745485" y="3142654"/>
            <a:ext cx="4989314" cy="99179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745485" y="4267795"/>
            <a:ext cx="4989314" cy="99179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18"/>
          <p:cNvSpPr txBox="1"/>
          <p:nvPr/>
        </p:nvSpPr>
        <p:spPr>
          <a:xfrm>
            <a:off x="10406634" y="479167"/>
            <a:ext cx="1328166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FoodPlanner.AI</a:t>
            </a:r>
            <a:endParaRPr dirty="0"/>
          </a:p>
        </p:txBody>
      </p:sp>
      <p:sp>
        <p:nvSpPr>
          <p:cNvPr id="222" name="Google Shape;222;p18"/>
          <p:cNvSpPr txBox="1"/>
          <p:nvPr/>
        </p:nvSpPr>
        <p:spPr>
          <a:xfrm>
            <a:off x="457200" y="6372225"/>
            <a:ext cx="198120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Northeastern University • INFO 7375</a:t>
            </a:r>
            <a:endParaRPr/>
          </a:p>
        </p:txBody>
      </p:sp>
      <p:sp>
        <p:nvSpPr>
          <p:cNvPr id="223" name="Google Shape;223;p18"/>
          <p:cNvSpPr txBox="1"/>
          <p:nvPr/>
        </p:nvSpPr>
        <p:spPr>
          <a:xfrm>
            <a:off x="11363325" y="6372225"/>
            <a:ext cx="37147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Slide 6</a:t>
            </a:r>
            <a:endParaRPr/>
          </a:p>
        </p:txBody>
      </p:sp>
      <p:sp>
        <p:nvSpPr>
          <p:cNvPr id="224" name="Google Shape;224;p18"/>
          <p:cNvSpPr txBox="1"/>
          <p:nvPr/>
        </p:nvSpPr>
        <p:spPr>
          <a:xfrm>
            <a:off x="457200" y="609600"/>
            <a:ext cx="5270658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0F172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Chat Orchestration </a:t>
            </a:r>
            <a:r>
              <a:rPr lang="en-US" sz="2250" b="0" i="0" u="none" strike="noStrike" cap="none">
                <a:solidFill>
                  <a:srgbClr val="2563EB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&amp; Intent Routing</a:t>
            </a:r>
            <a:endParaRPr/>
          </a:p>
        </p:txBody>
      </p:sp>
      <p:pic>
        <p:nvPicPr>
          <p:cNvPr id="225" name="Google Shape;225;p1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254234" y="481024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18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57200" y="1524000"/>
            <a:ext cx="6097785" cy="419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18"/>
          <p:cNvSpPr txBox="1"/>
          <p:nvPr/>
        </p:nvSpPr>
        <p:spPr>
          <a:xfrm>
            <a:off x="7126485" y="2198489"/>
            <a:ext cx="4427339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1D4ED8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Rule-Based Fast Path</a:t>
            </a:r>
            <a:endParaRPr/>
          </a:p>
        </p:txBody>
      </p:sp>
      <p:sp>
        <p:nvSpPr>
          <p:cNvPr id="228" name="Google Shape;228;p18"/>
          <p:cNvSpPr txBox="1"/>
          <p:nvPr/>
        </p:nvSpPr>
        <p:spPr>
          <a:xfrm>
            <a:off x="6926460" y="2455664"/>
            <a:ext cx="4627364" cy="372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2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Standard commands match deterministic rules instantly, eliminating unnecessary LLM latency.</a:t>
            </a:r>
            <a:endParaRPr/>
          </a:p>
        </p:txBody>
      </p:sp>
      <p:sp>
        <p:nvSpPr>
          <p:cNvPr id="229" name="Google Shape;229;p18"/>
          <p:cNvSpPr txBox="1"/>
          <p:nvPr/>
        </p:nvSpPr>
        <p:spPr>
          <a:xfrm>
            <a:off x="7145535" y="3323629"/>
            <a:ext cx="4408289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DC2626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Active Jailbreak Guard</a:t>
            </a:r>
            <a:endParaRPr/>
          </a:p>
        </p:txBody>
      </p:sp>
      <p:sp>
        <p:nvSpPr>
          <p:cNvPr id="230" name="Google Shape;230;p18"/>
          <p:cNvSpPr txBox="1"/>
          <p:nvPr/>
        </p:nvSpPr>
        <p:spPr>
          <a:xfrm>
            <a:off x="6926460" y="3580804"/>
            <a:ext cx="4627364" cy="372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2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Detects prompt injection attempts (e.g., 'ignore allergy rules') and politely refuses before hitting LLM context.</a:t>
            </a:r>
            <a:endParaRPr/>
          </a:p>
        </p:txBody>
      </p:sp>
      <p:sp>
        <p:nvSpPr>
          <p:cNvPr id="231" name="Google Shape;231;p18"/>
          <p:cNvSpPr txBox="1"/>
          <p:nvPr/>
        </p:nvSpPr>
        <p:spPr>
          <a:xfrm>
            <a:off x="7183635" y="4448770"/>
            <a:ext cx="4370189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15803D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Structured NLU Fallback</a:t>
            </a:r>
            <a:endParaRPr/>
          </a:p>
        </p:txBody>
      </p:sp>
      <p:sp>
        <p:nvSpPr>
          <p:cNvPr id="232" name="Google Shape;232;p18"/>
          <p:cNvSpPr txBox="1"/>
          <p:nvPr/>
        </p:nvSpPr>
        <p:spPr>
          <a:xfrm>
            <a:off x="6926460" y="4705945"/>
            <a:ext cx="4627364" cy="372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2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Unmatched messages route to Claude, returning structured JSON actions to execute backend code.</a:t>
            </a:r>
            <a:endParaRPr/>
          </a:p>
        </p:txBody>
      </p:sp>
      <p:pic>
        <p:nvPicPr>
          <p:cNvPr id="233" name="Google Shape;233;p18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926460" y="2217539"/>
            <a:ext cx="1238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18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926460" y="3342679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18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926460" y="4467820"/>
            <a:ext cx="180975" cy="14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200" y="6267450"/>
            <a:ext cx="11277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7200" y="342900"/>
            <a:ext cx="1643062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082480" y="2203846"/>
            <a:ext cx="6652319" cy="80545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082480" y="3142654"/>
            <a:ext cx="6652319" cy="80545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082480" y="4081462"/>
            <a:ext cx="6652319" cy="99179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19"/>
          <p:cNvSpPr txBox="1"/>
          <p:nvPr/>
        </p:nvSpPr>
        <p:spPr>
          <a:xfrm>
            <a:off x="10479786" y="521731"/>
            <a:ext cx="1255014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FoodPlanner.AI</a:t>
            </a:r>
            <a:endParaRPr dirty="0"/>
          </a:p>
        </p:txBody>
      </p:sp>
      <p:sp>
        <p:nvSpPr>
          <p:cNvPr id="247" name="Google Shape;247;p19"/>
          <p:cNvSpPr txBox="1"/>
          <p:nvPr/>
        </p:nvSpPr>
        <p:spPr>
          <a:xfrm>
            <a:off x="457200" y="6372225"/>
            <a:ext cx="198120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Northeastern University • INFO 7375</a:t>
            </a:r>
            <a:endParaRPr/>
          </a:p>
        </p:txBody>
      </p:sp>
      <p:sp>
        <p:nvSpPr>
          <p:cNvPr id="248" name="Google Shape;248;p19"/>
          <p:cNvSpPr txBox="1"/>
          <p:nvPr/>
        </p:nvSpPr>
        <p:spPr>
          <a:xfrm>
            <a:off x="11372850" y="6372225"/>
            <a:ext cx="36195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Slide 7</a:t>
            </a:r>
            <a:endParaRPr/>
          </a:p>
        </p:txBody>
      </p:sp>
      <p:sp>
        <p:nvSpPr>
          <p:cNvPr id="249" name="Google Shape;249;p19"/>
          <p:cNvSpPr txBox="1"/>
          <p:nvPr/>
        </p:nvSpPr>
        <p:spPr>
          <a:xfrm>
            <a:off x="457200" y="609600"/>
            <a:ext cx="6290786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0F172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LangGraph Multi-Agent </a:t>
            </a:r>
            <a:r>
              <a:rPr lang="en-US" sz="2250" b="0" i="0" u="none" strike="noStrike" cap="none">
                <a:solidFill>
                  <a:srgbClr val="2563EB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Execution Machine</a:t>
            </a:r>
            <a:endParaRPr/>
          </a:p>
        </p:txBody>
      </p:sp>
      <p:pic>
        <p:nvPicPr>
          <p:cNvPr id="250" name="Google Shape;250;p19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327386" y="485179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19"/>
          <p:cNvSpPr txBox="1"/>
          <p:nvPr/>
        </p:nvSpPr>
        <p:spPr>
          <a:xfrm>
            <a:off x="5482530" y="2384821"/>
            <a:ext cx="6071294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 dirty="0">
                <a:solidFill>
                  <a:srgbClr val="1D4ED8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1. Freshness &amp; Critical Priority</a:t>
            </a:r>
            <a:endParaRPr dirty="0"/>
          </a:p>
        </p:txBody>
      </p:sp>
      <p:sp>
        <p:nvSpPr>
          <p:cNvPr id="253" name="Google Shape;253;p19"/>
          <p:cNvSpPr txBox="1"/>
          <p:nvPr/>
        </p:nvSpPr>
        <p:spPr>
          <a:xfrm>
            <a:off x="5263455" y="2641996"/>
            <a:ext cx="6290369" cy="186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2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Evaluates shelf life knowledge base; flags items with score ≥ 4 as priority recipe constraints.</a:t>
            </a:r>
            <a:endParaRPr/>
          </a:p>
        </p:txBody>
      </p:sp>
      <p:sp>
        <p:nvSpPr>
          <p:cNvPr id="254" name="Google Shape;254;p19"/>
          <p:cNvSpPr txBox="1"/>
          <p:nvPr/>
        </p:nvSpPr>
        <p:spPr>
          <a:xfrm>
            <a:off x="5482530" y="3323629"/>
            <a:ext cx="6071294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1D4ED8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2. Spoonacular Recipe Retrieval</a:t>
            </a:r>
            <a:endParaRPr/>
          </a:p>
        </p:txBody>
      </p:sp>
      <p:sp>
        <p:nvSpPr>
          <p:cNvPr id="255" name="Google Shape;255;p19"/>
          <p:cNvSpPr txBox="1"/>
          <p:nvPr/>
        </p:nvSpPr>
        <p:spPr>
          <a:xfrm>
            <a:off x="5263455" y="3580804"/>
            <a:ext cx="6290369" cy="186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2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Queries Spoonacular API prioritizing at-risk inventory while applying active diet filters.</a:t>
            </a:r>
            <a:endParaRPr/>
          </a:p>
        </p:txBody>
      </p:sp>
      <p:sp>
        <p:nvSpPr>
          <p:cNvPr id="256" name="Google Shape;256;p19"/>
          <p:cNvSpPr txBox="1"/>
          <p:nvPr/>
        </p:nvSpPr>
        <p:spPr>
          <a:xfrm>
            <a:off x="5482530" y="4262437"/>
            <a:ext cx="6071294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DC2626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3. Deterministic Fallback Loop</a:t>
            </a:r>
            <a:endParaRPr/>
          </a:p>
        </p:txBody>
      </p:sp>
      <p:sp>
        <p:nvSpPr>
          <p:cNvPr id="257" name="Google Shape;257;p19"/>
          <p:cNvSpPr txBox="1"/>
          <p:nvPr/>
        </p:nvSpPr>
        <p:spPr>
          <a:xfrm>
            <a:off x="5263455" y="4519612"/>
            <a:ext cx="6290369" cy="372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2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If scan_plan_for_violations detects an unsafe item, it triggers use_llm = false and rebuilds deterministically.</a:t>
            </a:r>
            <a:endParaRPr/>
          </a:p>
        </p:txBody>
      </p:sp>
      <p:pic>
        <p:nvPicPr>
          <p:cNvPr id="258" name="Google Shape;258;p19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263455" y="2403871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19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5263455" y="3342679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19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263455" y="4281487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33C6616-EB00-9361-B3CE-29DB87CCF67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104866" y="1196416"/>
            <a:ext cx="1520413" cy="541613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5" name="Google Shape;265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200" y="6267450"/>
            <a:ext cx="11277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7200" y="342900"/>
            <a:ext cx="23622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636865" y="2017514"/>
            <a:ext cx="6097934" cy="99179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636865" y="3142654"/>
            <a:ext cx="6097934" cy="99179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636865" y="4267795"/>
            <a:ext cx="6097934" cy="99179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0"/>
          <p:cNvSpPr txBox="1"/>
          <p:nvPr/>
        </p:nvSpPr>
        <p:spPr>
          <a:xfrm>
            <a:off x="10497312" y="464790"/>
            <a:ext cx="1182624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FoodPlanner.AI</a:t>
            </a:r>
            <a:endParaRPr dirty="0"/>
          </a:p>
        </p:txBody>
      </p:sp>
      <p:sp>
        <p:nvSpPr>
          <p:cNvPr id="272" name="Google Shape;272;p20"/>
          <p:cNvSpPr txBox="1"/>
          <p:nvPr/>
        </p:nvSpPr>
        <p:spPr>
          <a:xfrm>
            <a:off x="457200" y="6372225"/>
            <a:ext cx="198120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Northeastern University • INFO 7375</a:t>
            </a:r>
            <a:endParaRPr/>
          </a:p>
        </p:txBody>
      </p:sp>
      <p:sp>
        <p:nvSpPr>
          <p:cNvPr id="273" name="Google Shape;273;p20"/>
          <p:cNvSpPr txBox="1"/>
          <p:nvPr/>
        </p:nvSpPr>
        <p:spPr>
          <a:xfrm>
            <a:off x="11363325" y="6372225"/>
            <a:ext cx="37147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Slide 8</a:t>
            </a:r>
            <a:endParaRPr/>
          </a:p>
        </p:txBody>
      </p:sp>
      <p:sp>
        <p:nvSpPr>
          <p:cNvPr id="274" name="Google Shape;274;p20"/>
          <p:cNvSpPr txBox="1"/>
          <p:nvPr/>
        </p:nvSpPr>
        <p:spPr>
          <a:xfrm>
            <a:off x="457200" y="609600"/>
            <a:ext cx="5990748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0F172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Deterministic Safety </a:t>
            </a:r>
            <a:r>
              <a:rPr lang="en-US" sz="2250" b="0" i="0" u="none" strike="noStrike" cap="none">
                <a:solidFill>
                  <a:srgbClr val="2563EB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&amp; Dietary Guardrails</a:t>
            </a:r>
            <a:endParaRPr/>
          </a:p>
        </p:txBody>
      </p:sp>
      <p:pic>
        <p:nvPicPr>
          <p:cNvPr id="275" name="Google Shape;275;p20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309098" y="481024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20"/>
          <p:cNvSpPr txBox="1"/>
          <p:nvPr/>
        </p:nvSpPr>
        <p:spPr>
          <a:xfrm>
            <a:off x="6036915" y="2198489"/>
            <a:ext cx="5516909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15803D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Rule-Based Checkpoints</a:t>
            </a:r>
            <a:endParaRPr/>
          </a:p>
        </p:txBody>
      </p:sp>
      <p:sp>
        <p:nvSpPr>
          <p:cNvPr id="278" name="Google Shape;278;p20"/>
          <p:cNvSpPr txBox="1"/>
          <p:nvPr/>
        </p:nvSpPr>
        <p:spPr>
          <a:xfrm>
            <a:off x="5817840" y="2455664"/>
            <a:ext cx="5735984" cy="372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2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Safety is never left to LLM judgment. Python code enforces inventory stripping, candidate filtering, and post-plan violation scans.</a:t>
            </a:r>
            <a:endParaRPr/>
          </a:p>
        </p:txBody>
      </p:sp>
      <p:sp>
        <p:nvSpPr>
          <p:cNvPr id="279" name="Google Shape;279;p20"/>
          <p:cNvSpPr txBox="1"/>
          <p:nvPr/>
        </p:nvSpPr>
        <p:spPr>
          <a:xfrm>
            <a:off x="5998815" y="3323629"/>
            <a:ext cx="5555009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1D4ED8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Strict JSON Schemas &amp; Trap Nudges</a:t>
            </a:r>
            <a:endParaRPr/>
          </a:p>
        </p:txBody>
      </p:sp>
      <p:sp>
        <p:nvSpPr>
          <p:cNvPr id="280" name="Google Shape;280;p20"/>
          <p:cNvSpPr txBox="1"/>
          <p:nvPr/>
        </p:nvSpPr>
        <p:spPr>
          <a:xfrm>
            <a:off x="5817840" y="3580804"/>
            <a:ext cx="5735984" cy="372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2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Constrains Claude outputs to structured JSON and includes in-context nudges for hidden traps (gelatin in desserts, fish sauce in curries).</a:t>
            </a:r>
            <a:endParaRPr/>
          </a:p>
        </p:txBody>
      </p:sp>
      <p:sp>
        <p:nvSpPr>
          <p:cNvPr id="281" name="Google Shape;281;p20"/>
          <p:cNvSpPr txBox="1"/>
          <p:nvPr/>
        </p:nvSpPr>
        <p:spPr>
          <a:xfrm>
            <a:off x="6017865" y="4448770"/>
            <a:ext cx="5535959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DC2626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Zero-Tolerance Discard</a:t>
            </a:r>
            <a:endParaRPr/>
          </a:p>
        </p:txBody>
      </p:sp>
      <p:sp>
        <p:nvSpPr>
          <p:cNvPr id="282" name="Google Shape;282;p20"/>
          <p:cNvSpPr txBox="1"/>
          <p:nvPr/>
        </p:nvSpPr>
        <p:spPr>
          <a:xfrm>
            <a:off x="5817840" y="4705945"/>
            <a:ext cx="5735984" cy="372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2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Unsafe model responses are completely dropped and re-routed via deterministic safe rebuilds targeting 0% constraint violations.</a:t>
            </a:r>
            <a:endParaRPr/>
          </a:p>
        </p:txBody>
      </p:sp>
      <p:pic>
        <p:nvPicPr>
          <p:cNvPr id="283" name="Google Shape;283;p20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817840" y="2217539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20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5817840" y="3342679"/>
            <a:ext cx="1047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20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817840" y="4467820"/>
            <a:ext cx="1238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0F93A29-F317-98BA-C509-A8E46D623C2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550159" y="1323676"/>
            <a:ext cx="3220056" cy="525958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0" name="Google Shape;290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200" y="6267450"/>
            <a:ext cx="11277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7200" y="342900"/>
            <a:ext cx="23241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45485" y="2017514"/>
            <a:ext cx="4989314" cy="99179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745485" y="3142654"/>
            <a:ext cx="4989314" cy="99179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2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745485" y="4267795"/>
            <a:ext cx="4989314" cy="99179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21"/>
          <p:cNvSpPr txBox="1"/>
          <p:nvPr/>
        </p:nvSpPr>
        <p:spPr>
          <a:xfrm>
            <a:off x="10552176" y="479167"/>
            <a:ext cx="1182624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FoodPlanner.AI</a:t>
            </a:r>
            <a:endParaRPr dirty="0"/>
          </a:p>
        </p:txBody>
      </p:sp>
      <p:sp>
        <p:nvSpPr>
          <p:cNvPr id="297" name="Google Shape;297;p21"/>
          <p:cNvSpPr txBox="1"/>
          <p:nvPr/>
        </p:nvSpPr>
        <p:spPr>
          <a:xfrm>
            <a:off x="457200" y="6372225"/>
            <a:ext cx="198120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Northeastern University • INFO 7375</a:t>
            </a:r>
            <a:endParaRPr/>
          </a:p>
        </p:txBody>
      </p:sp>
      <p:sp>
        <p:nvSpPr>
          <p:cNvPr id="298" name="Google Shape;298;p21"/>
          <p:cNvSpPr txBox="1"/>
          <p:nvPr/>
        </p:nvSpPr>
        <p:spPr>
          <a:xfrm>
            <a:off x="11363325" y="6372225"/>
            <a:ext cx="37147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Slide 9</a:t>
            </a:r>
            <a:endParaRPr/>
          </a:p>
        </p:txBody>
      </p:sp>
      <p:sp>
        <p:nvSpPr>
          <p:cNvPr id="299" name="Google Shape;299;p21"/>
          <p:cNvSpPr txBox="1"/>
          <p:nvPr/>
        </p:nvSpPr>
        <p:spPr>
          <a:xfrm>
            <a:off x="457200" y="609600"/>
            <a:ext cx="5650706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0F172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Waste Analytics </a:t>
            </a:r>
            <a:r>
              <a:rPr lang="en-US" sz="2250" b="0" i="0" u="none" strike="noStrike" cap="none">
                <a:solidFill>
                  <a:srgbClr val="2563EB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&amp; Differential Tracking</a:t>
            </a:r>
            <a:endParaRPr/>
          </a:p>
        </p:txBody>
      </p:sp>
      <p:pic>
        <p:nvPicPr>
          <p:cNvPr id="300" name="Google Shape;300;p21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309098" y="454699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21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57200" y="1524000"/>
            <a:ext cx="6097785" cy="419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21"/>
          <p:cNvSpPr txBox="1"/>
          <p:nvPr/>
        </p:nvSpPr>
        <p:spPr>
          <a:xfrm>
            <a:off x="7164585" y="2198489"/>
            <a:ext cx="4389239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1D4ED8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Snapshot Differential</a:t>
            </a:r>
            <a:endParaRPr/>
          </a:p>
        </p:txBody>
      </p:sp>
      <p:sp>
        <p:nvSpPr>
          <p:cNvPr id="303" name="Google Shape;303;p21"/>
          <p:cNvSpPr txBox="1"/>
          <p:nvPr/>
        </p:nvSpPr>
        <p:spPr>
          <a:xfrm>
            <a:off x="6926460" y="2455664"/>
            <a:ext cx="4627364" cy="372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2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Compares newly confirmed inventory against previous snapshots to flag missing at-risk ingredients automatically.</a:t>
            </a:r>
            <a:endParaRPr/>
          </a:p>
        </p:txBody>
      </p:sp>
      <p:sp>
        <p:nvSpPr>
          <p:cNvPr id="304" name="Google Shape;304;p21"/>
          <p:cNvSpPr txBox="1"/>
          <p:nvPr/>
        </p:nvSpPr>
        <p:spPr>
          <a:xfrm>
            <a:off x="7126485" y="3323629"/>
            <a:ext cx="4427339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15803D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Non-Wasted Confirmation</a:t>
            </a:r>
            <a:endParaRPr/>
          </a:p>
        </p:txBody>
      </p:sp>
      <p:sp>
        <p:nvSpPr>
          <p:cNvPr id="305" name="Google Shape;305;p21"/>
          <p:cNvSpPr txBox="1"/>
          <p:nvPr/>
        </p:nvSpPr>
        <p:spPr>
          <a:xfrm>
            <a:off x="6926460" y="3580804"/>
            <a:ext cx="4627364" cy="372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2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Items marked as used, kept, donated, or unsure remain neutral and are excluded from waste statistics.</a:t>
            </a:r>
            <a:endParaRPr/>
          </a:p>
        </p:txBody>
      </p:sp>
      <p:sp>
        <p:nvSpPr>
          <p:cNvPr id="306" name="Google Shape;306;p21"/>
          <p:cNvSpPr txBox="1"/>
          <p:nvPr/>
        </p:nvSpPr>
        <p:spPr>
          <a:xfrm>
            <a:off x="7164585" y="4448770"/>
            <a:ext cx="4389239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1D4ED8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Judgement-Free Analytics</a:t>
            </a:r>
            <a:endParaRPr/>
          </a:p>
        </p:txBody>
      </p:sp>
      <p:sp>
        <p:nvSpPr>
          <p:cNvPr id="307" name="Google Shape;307;p21"/>
          <p:cNvSpPr txBox="1"/>
          <p:nvPr/>
        </p:nvSpPr>
        <p:spPr>
          <a:xfrm>
            <a:off x="6926460" y="4705945"/>
            <a:ext cx="4627364" cy="372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2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Confirmed spoilage feeds into buy-less guidance and at-risk %, strictly avoiding dollar shaming or money guilt.</a:t>
            </a:r>
            <a:endParaRPr/>
          </a:p>
        </p:txBody>
      </p:sp>
      <p:pic>
        <p:nvPicPr>
          <p:cNvPr id="308" name="Google Shape;308;p21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926460" y="2217539"/>
            <a:ext cx="1619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21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926460" y="3342679"/>
            <a:ext cx="1238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21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926460" y="4467820"/>
            <a:ext cx="161925" cy="14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5" name="Google Shape;315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200" y="6267450"/>
            <a:ext cx="11277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7200" y="342900"/>
            <a:ext cx="22193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57200" y="1143000"/>
            <a:ext cx="5543550" cy="499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191250" y="1143000"/>
            <a:ext cx="5543550" cy="499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22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38175" y="1762125"/>
            <a:ext cx="1650950" cy="676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22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403425" y="1762125"/>
            <a:ext cx="1650950" cy="676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22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168675" y="1762125"/>
            <a:ext cx="1650950" cy="676275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22"/>
          <p:cNvSpPr txBox="1"/>
          <p:nvPr/>
        </p:nvSpPr>
        <p:spPr>
          <a:xfrm>
            <a:off x="10479786" y="462784"/>
            <a:ext cx="1264158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FoodPlanner.AI</a:t>
            </a:r>
            <a:endParaRPr dirty="0"/>
          </a:p>
        </p:txBody>
      </p:sp>
      <p:sp>
        <p:nvSpPr>
          <p:cNvPr id="324" name="Google Shape;324;p22"/>
          <p:cNvSpPr txBox="1"/>
          <p:nvPr/>
        </p:nvSpPr>
        <p:spPr>
          <a:xfrm>
            <a:off x="457200" y="6372225"/>
            <a:ext cx="198120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Northeastern University • INFO 7375</a:t>
            </a:r>
            <a:endParaRPr/>
          </a:p>
        </p:txBody>
      </p:sp>
      <p:sp>
        <p:nvSpPr>
          <p:cNvPr id="325" name="Google Shape;325;p22"/>
          <p:cNvSpPr txBox="1"/>
          <p:nvPr/>
        </p:nvSpPr>
        <p:spPr>
          <a:xfrm>
            <a:off x="11315700" y="6372225"/>
            <a:ext cx="41910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Slide 10</a:t>
            </a:r>
            <a:endParaRPr/>
          </a:p>
        </p:txBody>
      </p:sp>
      <p:sp>
        <p:nvSpPr>
          <p:cNvPr id="326" name="Google Shape;326;p22"/>
          <p:cNvSpPr txBox="1"/>
          <p:nvPr/>
        </p:nvSpPr>
        <p:spPr>
          <a:xfrm>
            <a:off x="457200" y="609600"/>
            <a:ext cx="4330541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0F172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Testing Rigor </a:t>
            </a:r>
            <a:r>
              <a:rPr lang="en-US" sz="2250" b="0" i="0" u="none" strike="noStrike" cap="none">
                <a:solidFill>
                  <a:srgbClr val="2563EB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&amp; Future Scaling</a:t>
            </a:r>
            <a:endParaRPr/>
          </a:p>
        </p:txBody>
      </p:sp>
      <p:pic>
        <p:nvPicPr>
          <p:cNvPr id="327" name="Google Shape;327;p22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0318242" y="495300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22"/>
          <p:cNvSpPr txBox="1"/>
          <p:nvPr/>
        </p:nvSpPr>
        <p:spPr>
          <a:xfrm>
            <a:off x="876300" y="1323975"/>
            <a:ext cx="4943475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1D4ED8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Testing Rigor &amp; Metrics</a:t>
            </a:r>
            <a:endParaRPr/>
          </a:p>
        </p:txBody>
      </p:sp>
      <p:sp>
        <p:nvSpPr>
          <p:cNvPr id="329" name="Google Shape;329;p22"/>
          <p:cNvSpPr txBox="1"/>
          <p:nvPr/>
        </p:nvSpPr>
        <p:spPr>
          <a:xfrm>
            <a:off x="638175" y="2590800"/>
            <a:ext cx="5181600" cy="372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2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Continuous integration verifies diet safety filters, gap-list subtraction math, waste tracking logic, and chat intent routing.</a:t>
            </a:r>
            <a:endParaRPr/>
          </a:p>
        </p:txBody>
      </p:sp>
      <p:sp>
        <p:nvSpPr>
          <p:cNvPr id="330" name="Google Shape;330;p22"/>
          <p:cNvSpPr txBox="1"/>
          <p:nvPr/>
        </p:nvSpPr>
        <p:spPr>
          <a:xfrm>
            <a:off x="6610350" y="1323975"/>
            <a:ext cx="4943475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15803D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Roadmap &amp; Scaling Scope</a:t>
            </a:r>
            <a:endParaRPr/>
          </a:p>
        </p:txBody>
      </p:sp>
      <p:pic>
        <p:nvPicPr>
          <p:cNvPr id="331" name="Google Shape;331;p22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38175" y="1347787"/>
            <a:ext cx="161925" cy="161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p22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372225" y="1347787"/>
            <a:ext cx="161925" cy="161925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22"/>
          <p:cNvSpPr txBox="1"/>
          <p:nvPr/>
        </p:nvSpPr>
        <p:spPr>
          <a:xfrm>
            <a:off x="762000" y="1885950"/>
            <a:ext cx="1403300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48</a:t>
            </a:r>
            <a:endParaRPr/>
          </a:p>
        </p:txBody>
      </p:sp>
      <p:sp>
        <p:nvSpPr>
          <p:cNvPr id="334" name="Google Shape;334;p22"/>
          <p:cNvSpPr txBox="1"/>
          <p:nvPr/>
        </p:nvSpPr>
        <p:spPr>
          <a:xfrm>
            <a:off x="762000" y="2181225"/>
            <a:ext cx="1403300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Unit Tests</a:t>
            </a:r>
            <a:endParaRPr/>
          </a:p>
        </p:txBody>
      </p:sp>
      <p:sp>
        <p:nvSpPr>
          <p:cNvPr id="335" name="Google Shape;335;p22"/>
          <p:cNvSpPr txBox="1"/>
          <p:nvPr/>
        </p:nvSpPr>
        <p:spPr>
          <a:xfrm>
            <a:off x="2527250" y="1885950"/>
            <a:ext cx="1403300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16A34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0%</a:t>
            </a:r>
            <a:endParaRPr/>
          </a:p>
        </p:txBody>
      </p:sp>
      <p:sp>
        <p:nvSpPr>
          <p:cNvPr id="336" name="Google Shape;336;p22"/>
          <p:cNvSpPr txBox="1"/>
          <p:nvPr/>
        </p:nvSpPr>
        <p:spPr>
          <a:xfrm>
            <a:off x="2527250" y="2181225"/>
            <a:ext cx="1403300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Diet Violations</a:t>
            </a:r>
            <a:endParaRPr/>
          </a:p>
        </p:txBody>
      </p:sp>
      <p:sp>
        <p:nvSpPr>
          <p:cNvPr id="337" name="Google Shape;337;p22"/>
          <p:cNvSpPr txBox="1"/>
          <p:nvPr/>
        </p:nvSpPr>
        <p:spPr>
          <a:xfrm>
            <a:off x="4292500" y="1885950"/>
            <a:ext cx="1403300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100%</a:t>
            </a:r>
            <a:endParaRPr/>
          </a:p>
        </p:txBody>
      </p:sp>
      <p:sp>
        <p:nvSpPr>
          <p:cNvPr id="338" name="Google Shape;338;p22"/>
          <p:cNvSpPr txBox="1"/>
          <p:nvPr/>
        </p:nvSpPr>
        <p:spPr>
          <a:xfrm>
            <a:off x="4292500" y="2181225"/>
            <a:ext cx="1403300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Workflow Coverage</a:t>
            </a:r>
            <a:endParaRPr/>
          </a:p>
        </p:txBody>
      </p:sp>
      <p:sp>
        <p:nvSpPr>
          <p:cNvPr id="339" name="Google Shape;339;p22"/>
          <p:cNvSpPr txBox="1"/>
          <p:nvPr/>
        </p:nvSpPr>
        <p:spPr>
          <a:xfrm>
            <a:off x="6372225" y="1781175"/>
            <a:ext cx="160972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166534"/>
                </a:solidFill>
                <a:latin typeface="Inter"/>
                <a:ea typeface="Inter"/>
                <a:cs typeface="Inter"/>
                <a:sym typeface="Inter"/>
              </a:rPr>
              <a:t>Managed Infrastructure:</a:t>
            </a:r>
            <a:endParaRPr/>
          </a:p>
        </p:txBody>
      </p:sp>
      <p:sp>
        <p:nvSpPr>
          <p:cNvPr id="340" name="Google Shape;340;p22"/>
          <p:cNvSpPr txBox="1"/>
          <p:nvPr/>
        </p:nvSpPr>
        <p:spPr>
          <a:xfrm>
            <a:off x="6372225" y="1952625"/>
            <a:ext cx="5181600" cy="372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2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Migrating local JSON storage to PostgreSQL with Row-Level Security (RLS) for multi-tenant users.</a:t>
            </a:r>
            <a:endParaRPr/>
          </a:p>
        </p:txBody>
      </p:sp>
      <p:sp>
        <p:nvSpPr>
          <p:cNvPr id="341" name="Google Shape;341;p22"/>
          <p:cNvSpPr txBox="1"/>
          <p:nvPr/>
        </p:nvSpPr>
        <p:spPr>
          <a:xfrm>
            <a:off x="6372225" y="2458640"/>
            <a:ext cx="2014324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>
                <a:solidFill>
                  <a:srgbClr val="166534"/>
                </a:solidFill>
                <a:latin typeface="Inter"/>
                <a:ea typeface="Inter"/>
                <a:cs typeface="Inter"/>
                <a:sym typeface="Inter"/>
              </a:rPr>
              <a:t>Perceptual Image Hashing:</a:t>
            </a:r>
            <a:endParaRPr dirty="0"/>
          </a:p>
        </p:txBody>
      </p:sp>
      <p:sp>
        <p:nvSpPr>
          <p:cNvPr id="342" name="Google Shape;342;p22"/>
          <p:cNvSpPr txBox="1"/>
          <p:nvPr/>
        </p:nvSpPr>
        <p:spPr>
          <a:xfrm>
            <a:off x="6372225" y="2582324"/>
            <a:ext cx="5181600" cy="372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2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Upgrading exact-byte photo matching to perceptual hashing to recognize near-duplicate fridge photos across lighting changes.</a:t>
            </a:r>
            <a:endParaRPr dirty="0"/>
          </a:p>
        </p:txBody>
      </p:sp>
      <p:sp>
        <p:nvSpPr>
          <p:cNvPr id="343" name="Google Shape;343;p22"/>
          <p:cNvSpPr txBox="1"/>
          <p:nvPr/>
        </p:nvSpPr>
        <p:spPr>
          <a:xfrm>
            <a:off x="6372225" y="3177049"/>
            <a:ext cx="17049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>
                <a:solidFill>
                  <a:srgbClr val="166534"/>
                </a:solidFill>
                <a:latin typeface="Inter"/>
                <a:ea typeface="Inter"/>
                <a:cs typeface="Inter"/>
                <a:sym typeface="Inter"/>
              </a:rPr>
              <a:t>Expanded Religious Diets:</a:t>
            </a:r>
            <a:endParaRPr dirty="0"/>
          </a:p>
        </p:txBody>
      </p:sp>
      <p:sp>
        <p:nvSpPr>
          <p:cNvPr id="344" name="Google Shape;344;p22"/>
          <p:cNvSpPr txBox="1"/>
          <p:nvPr/>
        </p:nvSpPr>
        <p:spPr>
          <a:xfrm>
            <a:off x="6372225" y="3471329"/>
            <a:ext cx="5181600" cy="186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2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Broader Halal and Kosher substitution rulesets with USDA database enrichment.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" y="2724150"/>
            <a:ext cx="3606700" cy="20288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2500" y="2724150"/>
            <a:ext cx="3606849" cy="20288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9850" y="2724150"/>
            <a:ext cx="3606700" cy="20288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6049" y="3409950"/>
            <a:ext cx="2885926" cy="5143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5325" y="4038600"/>
            <a:ext cx="3046214" cy="5143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13250" y="3409950"/>
            <a:ext cx="2886075" cy="5143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92525" y="4038600"/>
            <a:ext cx="3046362" cy="5143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10600" y="3409950"/>
            <a:ext cx="2885926" cy="3524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89875" y="3876675"/>
            <a:ext cx="3046214" cy="5143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063162" y="481012"/>
            <a:ext cx="1633537" cy="2476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95325" y="2924175"/>
            <a:ext cx="1290161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Outfit"/>
              </a:rPr>
              <a:t>Jain Diet Request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225700" y="2947987"/>
            <a:ext cx="676275" cy="21907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8200" y="4162425"/>
            <a:ext cx="152400" cy="12382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492525" y="2924175"/>
            <a:ext cx="148018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Outfit"/>
              </a:rPr>
              <a:t>Allergy Interception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861125" y="2947987"/>
            <a:ext cx="838200" cy="2190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635400" y="4162425"/>
            <a:ext cx="152400" cy="12382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289875" y="2924175"/>
            <a:ext cx="1330166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Outfit"/>
              </a:rPr>
              <a:t>Pantry Derivation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715476" y="2947987"/>
            <a:ext cx="781050" cy="21907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432750" y="4000500"/>
            <a:ext cx="152400" cy="123825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95300" y="400050"/>
            <a:ext cx="11696700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 dirty="0">
                <a:solidFill>
                  <a:srgbClr val="0F172A"/>
                </a:solidFill>
                <a:latin typeface="Outfit"/>
              </a:rPr>
              <a:t>Real-World Conversational Scenarios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" y="2431256"/>
            <a:ext cx="5467350" cy="261461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9350" y="2431256"/>
            <a:ext cx="5467350" cy="261461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150" y="2707481"/>
            <a:ext cx="2303264" cy="2667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3200" y="2707481"/>
            <a:ext cx="2476648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34587" y="481012"/>
            <a:ext cx="1662112" cy="2476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9348" y="2774156"/>
            <a:ext cx="141089" cy="1333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85850" y="3126581"/>
            <a:ext cx="4600575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1" i="0" u="none">
                <a:solidFill>
                  <a:srgbClr val="0F172A"/>
                </a:solidFill>
                <a:latin typeface="Plus Jakarta Sans"/>
              </a:rPr>
              <a:t>Local Storage Scope:</a:t>
            </a:r>
            <a:r>
              <a:rPr sz="1125" b="0" i="0" u="none">
                <a:solidFill>
                  <a:srgbClr val="334155"/>
                </a:solidFill>
                <a:latin typeface="Plus Jakarta Sans"/>
              </a:rPr>
              <a:t> Local JSON storage (great for demo testing, scaling to multi-tenant DB).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5850" y="3674268"/>
            <a:ext cx="4600575" cy="39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1" i="0" u="none" dirty="0">
                <a:solidFill>
                  <a:srgbClr val="0F172A"/>
                </a:solidFill>
                <a:latin typeface="Plus Jakarta Sans"/>
              </a:rPr>
              <a:t>Photo Deduplication:</a:t>
            </a:r>
            <a:r>
              <a:rPr sz="1125" b="0" i="0" u="none" dirty="0">
                <a:solidFill>
                  <a:srgbClr val="334155"/>
                </a:solidFill>
                <a:latin typeface="Plus Jakarta Sans"/>
              </a:rPr>
              <a:t> Photo matching is currently </a:t>
            </a:r>
            <a:r>
              <a:rPr sz="1125" b="0" i="0" u="none">
                <a:solidFill>
                  <a:srgbClr val="334155"/>
                </a:solidFill>
                <a:latin typeface="Plus Jakarta Sans"/>
              </a:rPr>
              <a:t>exact-byte only</a:t>
            </a:r>
            <a:r>
              <a:rPr lang="en-US" sz="1125" b="0" i="0" u="none">
                <a:solidFill>
                  <a:srgbClr val="334155"/>
                </a:solidFill>
                <a:latin typeface="Plus Jakarta Sans"/>
              </a:rPr>
              <a:t> - </a:t>
            </a:r>
            <a:r>
              <a:rPr sz="1125" b="0" i="0" u="none">
                <a:solidFill>
                  <a:srgbClr val="334155"/>
                </a:solidFill>
                <a:latin typeface="Plus Jakarta Sans"/>
              </a:rPr>
              <a:t>adding </a:t>
            </a:r>
            <a:r>
              <a:rPr sz="1125" b="0" i="0" u="none" dirty="0">
                <a:solidFill>
                  <a:srgbClr val="334155"/>
                </a:solidFill>
                <a:latin typeface="Plus Jakarta Sans"/>
              </a:rPr>
              <a:t>perceptual hashing next.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5850" y="4221956"/>
            <a:ext cx="4600575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1" i="0" u="none">
                <a:solidFill>
                  <a:srgbClr val="0F172A"/>
                </a:solidFill>
                <a:latin typeface="Plus Jakarta Sans"/>
              </a:rPr>
              <a:t>Cultural Substitution Depth:</a:t>
            </a:r>
            <a:r>
              <a:rPr sz="1125" b="0" i="0" u="none">
                <a:solidFill>
                  <a:srgbClr val="334155"/>
                </a:solidFill>
                <a:latin typeface="Plus Jakarta Sans"/>
              </a:rPr>
              <a:t> Expanding non-Western ingredient catalog for deeper Halal &amp; Kosher support.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13398" y="2774156"/>
            <a:ext cx="141089" cy="1333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819900" y="3126581"/>
            <a:ext cx="4600575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1" i="0" u="none">
                <a:solidFill>
                  <a:srgbClr val="0F172A"/>
                </a:solidFill>
                <a:latin typeface="Plus Jakarta Sans"/>
              </a:rPr>
              <a:t>Managed Infrastructure:</a:t>
            </a:r>
            <a:r>
              <a:rPr sz="1125" b="0" i="0" u="none">
                <a:solidFill>
                  <a:srgbClr val="334155"/>
                </a:solidFill>
                <a:latin typeface="Plus Jakarta Sans"/>
              </a:rPr>
              <a:t> PostgreSQL database with Row-Level Security (RLS) for multi-tenant users.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9900" y="3674268"/>
            <a:ext cx="4600575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1" i="0" u="none">
                <a:solidFill>
                  <a:srgbClr val="0F172A"/>
                </a:solidFill>
                <a:latin typeface="Plus Jakarta Sans"/>
              </a:rPr>
              <a:t>Perceptual Image Hashing:</a:t>
            </a:r>
            <a:r>
              <a:rPr sz="1125" b="0" i="0" u="none">
                <a:solidFill>
                  <a:srgbClr val="334155"/>
                </a:solidFill>
                <a:latin typeface="Plus Jakarta Sans"/>
              </a:rPr>
              <a:t> Recognize near-duplicate fridge photos across lighting changes.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9900" y="4221956"/>
            <a:ext cx="4600575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1" i="0" u="none">
                <a:solidFill>
                  <a:srgbClr val="0F172A"/>
                </a:solidFill>
                <a:latin typeface="Plus Jakarta Sans"/>
              </a:rPr>
              <a:t>Expanded Religious Diets:</a:t>
            </a:r>
            <a:r>
              <a:rPr sz="1125" b="0" i="0" u="none">
                <a:solidFill>
                  <a:srgbClr val="334155"/>
                </a:solidFill>
                <a:latin typeface="Plus Jakarta Sans"/>
              </a:rPr>
              <a:t> Broader Halal and Kosher substitution rulesets and USDA enrichment.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5300" y="400050"/>
            <a:ext cx="11696700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Outfit"/>
              </a:rPr>
              <a:t>Roadmap &amp; Future Scaling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9150" y="3145631"/>
            <a:ext cx="142875" cy="1428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9150" y="3693318"/>
            <a:ext cx="142875" cy="14287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9150" y="4241006"/>
            <a:ext cx="142875" cy="14287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53200" y="3145631"/>
            <a:ext cx="123825" cy="14287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53200" y="3693318"/>
            <a:ext cx="123825" cy="14287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53200" y="4241006"/>
            <a:ext cx="123825" cy="14287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3425" y="2107852"/>
            <a:ext cx="3105150" cy="3048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4625" y="4321373"/>
            <a:ext cx="3343275" cy="4286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0300" y="4321373"/>
            <a:ext cx="3267075" cy="4286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10801" y="2603152"/>
            <a:ext cx="3170396" cy="6704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280"/>
              </a:lnSpc>
            </a:pPr>
            <a:r>
              <a:rPr sz="4800" b="0" i="0" u="none">
                <a:solidFill>
                  <a:srgbClr val="0F172A"/>
                </a:solidFill>
                <a:latin typeface="Outfit ExtraBold"/>
              </a:rPr>
              <a:t>Thank You!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67000" y="3387923"/>
            <a:ext cx="6858000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sz="1500" b="0" i="0" u="none">
                <a:solidFill>
                  <a:srgbClr val="475569"/>
                </a:solidFill>
                <a:latin typeface="Plus Jakarta Sans Medium"/>
              </a:rPr>
              <a:t>Turning pantry photos into diet-safe, zero-waste meal plans you can trust every single night.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76264" y="4490904"/>
            <a:ext cx="161925" cy="1714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65117" y="4470432"/>
            <a:ext cx="171450" cy="1714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882</Words>
  <Application>Microsoft Office PowerPoint</Application>
  <PresentationFormat>Widescreen</PresentationFormat>
  <Paragraphs>118</Paragraphs>
  <Slides>13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5" baseType="lpstr">
      <vt:lpstr>Outfit ExtraBold</vt:lpstr>
      <vt:lpstr>Calibri</vt:lpstr>
      <vt:lpstr>Plus Jakarta Sans Medium</vt:lpstr>
      <vt:lpstr>Inter ExtraBold</vt:lpstr>
      <vt:lpstr>Arial</vt:lpstr>
      <vt:lpstr>Outfit</vt:lpstr>
      <vt:lpstr>Plus Jakarta Sans ExtraBold</vt:lpstr>
      <vt:lpstr>Inter</vt:lpstr>
      <vt:lpstr>Inter Medium</vt:lpstr>
      <vt:lpstr>Inter SemiBold</vt:lpstr>
      <vt:lpstr>Plus Jakarta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Dhanashree Atul Nerkar</cp:lastModifiedBy>
  <cp:revision>4</cp:revision>
  <dcterms:modified xsi:type="dcterms:W3CDTF">2026-08-04T23:15:25Z</dcterms:modified>
</cp:coreProperties>
</file>