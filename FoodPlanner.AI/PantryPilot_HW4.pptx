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91440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0F6E5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0C5A4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17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0C5A4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069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12064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0F6E5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120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18288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PantryPilot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663440" y="27889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Automated Workflow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34290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LangGraph-orchestrated pipeline that turns a messy fridge inventory into a waste-minimizing meal plan, gap-only shopping list, and real-time substitution rescue.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61264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INFO7375 · Building AI Applications · Assignment 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to final output, with a LangGraph conditional routing decision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480560" y="141732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80560" y="14173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
</a:t>
            </a:r>
            <a:pPr algn="ctr"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+ dietary profile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2103120"/>
            <a:ext cx="0" cy="41148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60520" y="251460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60520" y="25146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by intent
</a:t>
            </a:r>
            <a:pPr algn="ctr" indent="0" marL="0">
              <a:buNone/>
            </a:pPr>
            <a:r>
              <a:rPr lang="en-US" sz="10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conditional entry point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flipH="1">
            <a:off x="2651760" y="3200400"/>
            <a:ext cx="2468880" cy="68580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040880" y="3200400"/>
            <a:ext cx="2468880" cy="68580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103120" y="3337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= plan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= substitute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4023360" cy="868680"/>
          </a:xfrm>
          <a:prstGeom prst="roundRect">
            <a:avLst>
              <a:gd name="adj" fmla="val 6316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886200"/>
            <a:ext cx="40233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plan pipeline (UC1, UC4)
</a:t>
            </a:r>
            <a:pPr algn="ctr" indent="0" marL="0">
              <a:buNone/>
            </a:pPr>
            <a:r>
              <a:rPr lang="en-US" sz="10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→ critical priority → Spoonacular retrieval → constrained plan → gap list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80960" y="3886200"/>
            <a:ext cx="4023360" cy="868680"/>
          </a:xfrm>
          <a:prstGeom prst="roundRect">
            <a:avLst>
              <a:gd name="adj" fmla="val 6316"/>
            </a:avLst>
          </a:prstGeom>
          <a:solidFill>
            <a:srgbClr val="FAECE7"/>
          </a:solidFill>
          <a:ln w="9525">
            <a:solidFill>
              <a:srgbClr val="D85A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3886200"/>
            <a:ext cx="40233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rescue (UC2)
</a:t>
            </a:r>
            <a:pPr algn="ctr" indent="0" marL="0">
              <a:buNone/>
            </a:pPr>
            <a:r>
              <a:rPr lang="en-US" sz="10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candidates → filter for safety → select → refuse if none compliant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68880" y="4754880"/>
            <a:ext cx="3383280" cy="64008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H="1">
            <a:off x="6309360" y="4754880"/>
            <a:ext cx="3383280" cy="64008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160520" y="539496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F1EF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53949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result to UI
</a:t>
            </a:r>
            <a:pPr algn="ctr"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renders plan, gap list, or refusal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steps (critical-priority filter, gap-list set math) run as plain code, never as LLM generation — only Stages 2, 4, and 5 call Claude.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concepts: action vs. response, and context 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394960" cy="5120640"/>
          </a:xfrm>
          <a:prstGeom prst="roundRect">
            <a:avLst>
              <a:gd name="adj" fmla="val 1429"/>
            </a:avLst>
          </a:prstGeom>
          <a:solidFill>
            <a:srgbClr val="F8F7F3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vs. response decision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4754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decision point is route_intent() in pipeline.py.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Response path (intent = "plan"):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full 5-stage chain and returns a structured plan — no external side effects.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 path (intent = "substitute"):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 live Spoonacular retrieval call mid-conversation — an actual tool invocation, not just text generation.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Refusal is a first-class branch: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compliant substitute survives the safety filter, the graph returns a fixed refusal object instead of inventing one.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26480" y="1143000"/>
            <a:ext cx="5577840" cy="5120640"/>
          </a:xfrm>
          <a:prstGeom prst="roundRect">
            <a:avLst>
              <a:gd name="adj" fmla="val 1429"/>
            </a:avLst>
          </a:prstGeom>
          <a:solidFill>
            <a:srgbClr val="F8F7F3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flow across prompts, RAG, memory, tools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652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Prompt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46520" y="216712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2's ranked JSON is passed as critical_priority into Stage 4 — no re-generation, just forwarded state.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46520" y="29535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→ Prompt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32461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Spoonacular's cleaned recipe list is injected into Stage 4 as recipe_candidates; the model is instructed not to invent recipes.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40325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→ Prompt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432511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(diet_style, restrictions, dislikes) is carried from the UI form into every stage — this is the HW3 short-term session state.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51114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→ Tool logic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46520" y="540410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shelf_life_kb.json and substitution_kb.json are pure lookups in code; the LLM never invents a freshness class or a substitute outside them.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platform: evaluation and implementation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47120" cy="2286000"/>
        </p:xfrm>
        <a:graphic>
          <a:graphicData uri="http://schemas.openxmlformats.org/drawingml/2006/table">
            <a:tbl>
              <a:tblPr/>
              <a:tblGrid>
                <a:gridCol w="3017520"/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+ LangGraph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50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5E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style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Code-first, precise conditional logic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drag-and-drop nodes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persistence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typed graph state (PipelineState)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variables, less structured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for sequential JSON-schema stages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— matches HW2's schema-per-stage design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Weaker — schema validation needs extra nodes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speed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— requires writing Python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— usable demo in ~20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520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LangChain/LangGraph — the HW2 pipeline is already a sequential chain with one conditional branch and strict JSON contracts per stage; that maps directly onto LangGraph nodes and typed state, and keeps deterministic steps (Stage 3, gap list) as plain code rather than extra visual nodes.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57200" y="4160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encountered (real, from this build)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integration: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rejects node names that collide with state keys (e.g. a node named "plan" vs. a state field plan) — fixed by prefixing every node with stage_.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505663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logic: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strict-vegetarian run still surfaced a candidate titled "Chicken Kale Bake" (Spoonacular's ingredient search doesn't filter by diet, though chicken was never used as an actual ingredient) — and the LLM's own vegetarian-substitute notes leaked into extra_pantry_items, polluting the deterministic gap list with description text instead of buyable items.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5541264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reliability: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billing is split from chat/Claude Code subscription credits; a Console account with $0 balance fails every call with a 400 error until credits are purchased or claimed.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025896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Spoonacular's findByIngredients returns noisy ingredient strings (recipe steps embedded in ingredient lists) — cleaned before injecting into the planning prompt to avoid confusing the model.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UI and use-case coverage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front-end, run locally with streamlit run app.py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 — vegetarian-flexible, 3 nights</a:t>
            </a:r>
            <a:endParaRPr lang="en-US" sz="1050" dirty="0"/>
          </a:p>
        </p:txBody>
      </p:sp>
      <p:pic>
        <p:nvPicPr>
          <p:cNvPr id="5" name="Image 0" descr="/home/claude/pantrypilot/screens/s1_input_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5394960" cy="1691640"/>
          </a:xfrm>
          <a:prstGeom prst="rect">
            <a:avLst/>
          </a:prstGeom>
        </p:spPr>
      </p:pic>
      <p:pic>
        <p:nvPicPr>
          <p:cNvPr id="6" name="Image 1" descr="/home/claude/pantrypilot/screens/s2_pla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3246120"/>
            <a:ext cx="5394960" cy="1920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6480" y="120700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Strict-vegetarian — surfaced the "Chicken Kale Bake" bug</a:t>
            </a:r>
            <a:endParaRPr lang="en-US" sz="1050" dirty="0"/>
          </a:p>
        </p:txBody>
      </p:sp>
      <p:pic>
        <p:nvPicPr>
          <p:cNvPr id="8" name="Image 2" descr="/home/claude/pantrypilot/screens/s4_input2_crop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6480" y="1463040"/>
            <a:ext cx="5394960" cy="1691640"/>
          </a:xfrm>
          <a:prstGeom prst="rect">
            <a:avLst/>
          </a:prstGeom>
        </p:spPr>
      </p:pic>
      <p:pic>
        <p:nvPicPr>
          <p:cNvPr id="9" name="Image 3" descr="/home/claude/pantrypilot/screens/s5_plan2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26480" y="3246120"/>
            <a:ext cx="5394960" cy="19202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57200" y="5257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supported by this build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457200" y="5623560"/>
            <a:ext cx="3566160" cy="640080"/>
          </a:xfrm>
          <a:prstGeom prst="roundRect">
            <a:avLst>
              <a:gd name="adj" fmla="val 8571"/>
            </a:avLst>
          </a:prstGeom>
          <a:solidFill>
            <a:srgbClr val="0F6E56"/>
          </a:solidFill>
          <a:ln/>
        </p:spPr>
      </p:sp>
      <p:sp>
        <p:nvSpPr>
          <p:cNvPr id="12" name="Text 6"/>
          <p:cNvSpPr/>
          <p:nvPr/>
        </p:nvSpPr>
        <p:spPr>
          <a:xfrm>
            <a:off x="457200" y="5623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Multi-day plan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4251960" y="5623560"/>
            <a:ext cx="3566160" cy="640080"/>
          </a:xfrm>
          <a:prstGeom prst="roundRect">
            <a:avLst>
              <a:gd name="adj" fmla="val 8571"/>
            </a:avLst>
          </a:prstGeom>
          <a:solidFill>
            <a:srgbClr val="D85A30"/>
          </a:solidFill>
          <a:ln/>
        </p:spPr>
      </p:sp>
      <p:sp>
        <p:nvSpPr>
          <p:cNvPr id="14" name="Text 8"/>
          <p:cNvSpPr/>
          <p:nvPr/>
        </p:nvSpPr>
        <p:spPr>
          <a:xfrm>
            <a:off x="4251960" y="5623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rescue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8046720" y="5623560"/>
            <a:ext cx="3566160" cy="640080"/>
          </a:xfrm>
          <a:prstGeom prst="roundRect">
            <a:avLst>
              <a:gd name="adj" fmla="val 8571"/>
            </a:avLst>
          </a:prstGeom>
          <a:solidFill>
            <a:srgbClr val="534AB7"/>
          </a:solidFill>
          <a:ln/>
        </p:spPr>
      </p:sp>
      <p:sp>
        <p:nvSpPr>
          <p:cNvPr id="16" name="Text 10"/>
          <p:cNvSpPr/>
          <p:nvPr/>
        </p:nvSpPr>
        <p:spPr>
          <a:xfrm>
            <a:off x="8046720" y="5623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UC4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Dietary restrictions honored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2026-07-14T00:44:19Z</dcterms:created>
  <dcterms:modified xsi:type="dcterms:W3CDTF">2026-07-14T00:44:19Z</dcterms:modified>
</cp:coreProperties>
</file>